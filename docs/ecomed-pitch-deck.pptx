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73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3E8C8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24A645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594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EcoMed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146304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Descarte medicamentos.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Ganhe recompensas.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Salve o planeta.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6576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educativo com mapa inteligente, IA e gamificação para o descarte correto de medicamentos no Brasil.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ecomed.eco.br  |  Prof. Ivon Matos  |  Abril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91% dos brasileiros descartam medicamentos de forma incorreta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não é falta de vontade — é falta de informação. Existem 7.500+ pontos de coleta, mas quase ninguém sabe onde estão.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920240" cy="22860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mil ton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descartadas errado/ano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743200" y="2148840"/>
            <a:ext cx="1920240" cy="2286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423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4320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450 mil L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2880360" y="3520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contaminados por 1 comprimido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846320" y="2148840"/>
            <a:ext cx="1920240" cy="22860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423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4983480" y="3520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superbactérias até 2050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949440" y="2148840"/>
            <a:ext cx="1920240" cy="22860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4231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7.500+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086600" y="3520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LogMed pouco conhecidos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4008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ANVISA, LogMed/Sindusfarma, OMS, The Lancet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4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Uma plataforma que educa, conecta e recompensa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2926080"/>
          </a:xfrm>
          <a:prstGeom prst="rect">
            <a:avLst/>
          </a:prstGeom>
          <a:solidFill>
            <a:srgbClr val="F5F4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1828800"/>
            <a:ext cx="594360" cy="594360"/>
          </a:xfrm>
          <a:prstGeom prst="ellipse">
            <a:avLst/>
          </a:prstGeom>
          <a:solidFill>
            <a:srgbClr val="24A64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Encontre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inteligente com 7.500+ pontos de coleta. Filtre por tipo, veja horário e abra a rota.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606040" cy="2926080"/>
          </a:xfrm>
          <a:prstGeom prst="rect">
            <a:avLst/>
          </a:prstGeom>
          <a:solidFill>
            <a:srgbClr val="F5F4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828800"/>
            <a:ext cx="594360" cy="594360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0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Pergunte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30632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educativa 24h que responde dúvidas sobre descarte em linguagem simples.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606040" cy="2926080"/>
          </a:xfrm>
          <a:prstGeom prst="rect">
            <a:avLst/>
          </a:prstGeom>
          <a:solidFill>
            <a:srgbClr val="F5F4F2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69480" y="1828800"/>
            <a:ext cx="594360" cy="59436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Ganhe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30632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EcoMed Coins por cada ação. Suba de nível, complete missões, troque por recompensas.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73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100% open source, custo quase zero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1280160"/>
          </a:xfrm>
          <a:prstGeom prst="rect">
            <a:avLst/>
          </a:prstGeom>
          <a:solidFill>
            <a:srgbClr val="3E8C8C">
              <a:alpha val="50000"/>
            </a:srgbClr>
          </a:solidFill>
          <a:ln w="12700">
            <a:solidFill>
              <a:srgbClr val="3E8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PWA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SSR, offline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606040" cy="1280160"/>
          </a:xfrm>
          <a:prstGeom prst="rect">
            <a:avLst/>
          </a:prstGeom>
          <a:solidFill>
            <a:srgbClr val="3E8C8C">
              <a:alpha val="50000"/>
            </a:srgbClr>
          </a:solidFill>
          <a:ln w="12700">
            <a:solidFill>
              <a:srgbClr val="3E8C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Ollama + Llama 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Local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de API, privacidade total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606040" cy="1280160"/>
          </a:xfrm>
          <a:prstGeom prst="rect">
            <a:avLst/>
          </a:prstGeom>
          <a:solidFill>
            <a:srgbClr val="3E8C8C">
              <a:alpha val="50000"/>
            </a:srgbClr>
          </a:solidFill>
          <a:ln w="12700">
            <a:solidFill>
              <a:srgbClr val="3E8C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011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286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Auth + Realtime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606040" cy="1280160"/>
          </a:xfrm>
          <a:prstGeom prst="rect">
            <a:avLst/>
          </a:prstGeom>
          <a:solidFill>
            <a:srgbClr val="3E8C8C">
              <a:alpha val="50000"/>
            </a:srgbClr>
          </a:solidFill>
          <a:ln w="12700">
            <a:solidFill>
              <a:srgbClr val="3E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Cloudflare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+ WAF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SSL, cache, proteção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2606040" cy="1280160"/>
          </a:xfrm>
          <a:prstGeom prst="rect">
            <a:avLst/>
          </a:prstGeom>
          <a:solidFill>
            <a:srgbClr val="3E8C8C">
              <a:alpha val="50000"/>
            </a:srgbClr>
          </a:solidFill>
          <a:ln w="12700">
            <a:solidFill>
              <a:srgbClr val="3E8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OpenStreetMap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1188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11880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Gratuito, open source, cache offline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2606040" cy="1280160"/>
          </a:xfrm>
          <a:prstGeom prst="rect">
            <a:avLst/>
          </a:prstGeom>
          <a:solidFill>
            <a:srgbClr val="3E8C8C">
              <a:alpha val="50000"/>
            </a:srgbClr>
          </a:solidFill>
          <a:ln w="12700">
            <a:solidFill>
              <a:srgbClr val="3E8C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246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Upstash Redis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3840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sessões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operacional do MVP: ~R$ 4/mês usando free tiers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EcoMed Coins: descarte vira recompensa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840480" cy="3108960"/>
          </a:xfrm>
          <a:prstGeom prst="rect">
            <a:avLst/>
          </a:prstGeom>
          <a:solidFill>
            <a:srgbClr val="F5F4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4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GANHAR COINS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descarte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20116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+10–15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quiz 100%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artigo completo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 amigo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7 dias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657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069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 diária (bônus)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4069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3840480" cy="3108960"/>
          </a:xfrm>
          <a:prstGeom prst="rect">
            <a:avLst/>
          </a:prstGeom>
          <a:solidFill>
            <a:srgbClr val="F5F4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057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Semente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coins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057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2560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Broto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101–500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2560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2–4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Árvore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063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501–2.000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30632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2–3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4632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Guardião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3566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2.001–5.000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0" y="35661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3–6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Lenda Eco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4069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5.001+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4069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6+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709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diário: 120 coins  |  Cooldown: 60s  |  Anti-fraude: GPS + fingerprint + rate limit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 gap de mercado que ninguém ocupa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114800" cy="3200400"/>
          </a:xfrm>
          <a:prstGeom prst="rect">
            <a:avLst/>
          </a:prstGeom>
          <a:solidFill>
            <a:srgbClr val="F5F4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4389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→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LogMed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(portal gov)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926080" y="18288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Triciclo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Méliuz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2926080"/>
            <a:ext cx="1828800" cy="1097280"/>
          </a:xfrm>
          <a:prstGeom prst="ellipse">
            <a:avLst/>
          </a:prstGeom>
          <a:solidFill>
            <a:srgbClr val="24A645">
              <a:alpha val="20000"/>
            </a:srgbClr>
          </a:solidFill>
          <a:ln w="25400">
            <a:solidFill>
              <a:srgbClr val="24A6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1089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🌟 EcoMed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1463040"/>
            <a:ext cx="3474720" cy="3200400"/>
          </a:xfrm>
          <a:prstGeom prst="rect">
            <a:avLst/>
          </a:prstGeom>
          <a:solidFill>
            <a:srgbClr val="1A736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NÚMEROS-CHAVE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057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US$ 38 bi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66560" y="2057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farmacêutico BR (6º maior)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606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135 milhões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 com acesso ao LogMed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30.000 ton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6656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Descartadas incorretamente/ano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3703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+38,5%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6656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LogMed 2024 vs 2023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4251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+15%/ano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656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healthtech no BR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Gratuito para usuários, sustentável com parcerias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" cy="502920"/>
          </a:xfrm>
          <a:prstGeom prst="rect">
            <a:avLst/>
          </a:prstGeom>
          <a:solidFill>
            <a:srgbClr val="3E8C8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B2B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09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métricas para farmácias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R$ 200–500/mês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21408"/>
            <a:ext cx="54864" cy="502920"/>
          </a:xfrm>
          <a:prstGeom prst="rect">
            <a:avLst/>
          </a:prstGeom>
          <a:solidFill>
            <a:srgbClr val="3E8C8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ESG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36829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ambiental para indústria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2121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R$ 2–5k/trim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779776"/>
            <a:ext cx="54864" cy="502920"/>
          </a:xfrm>
          <a:prstGeom prst="rect">
            <a:avLst/>
          </a:prstGeom>
          <a:solidFill>
            <a:srgbClr val="3E8C8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Partner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02666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verificado no mapa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77977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R$ 50–150/mês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38144"/>
            <a:ext cx="54864" cy="502920"/>
          </a:xfrm>
          <a:prstGeom prst="rect">
            <a:avLst/>
          </a:prstGeom>
          <a:solidFill>
            <a:srgbClr val="3E8C8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381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Patrocínio de eventos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36850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Missões temáticas patrocinadas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343814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R$ 1–3k/evento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096512"/>
            <a:ext cx="54864" cy="502920"/>
          </a:xfrm>
          <a:prstGeom prst="rect">
            <a:avLst/>
          </a:prstGeom>
          <a:solidFill>
            <a:srgbClr val="3E8C8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96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e editais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343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social, FAPESP, CNPq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409651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R$ 10–50k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0" y="1463040"/>
            <a:ext cx="3474720" cy="1645920"/>
          </a:xfrm>
          <a:prstGeom prst="rect">
            <a:avLst/>
          </a:prstGeom>
          <a:solidFill>
            <a:srgbClr val="F5F4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1554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18745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~R$ 4/mês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(free tiers: Vercel, Supabase, Oracle, Cloudflare)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V1.0: ~R$ 360/mês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(break-even com 3 farmácias parceiras)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73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COMPETITIVOS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o EcoMed é único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Foco exclusivo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plataforma brasileira dedicada ao descarte de medicamentos com recompensas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06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local e gratuita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40680" y="17830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Llama 3 roda localmente. Sem custo de API, privacidade total, LGPD compliant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Gamificação completa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880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Coins, 5 níveis, missões diárias/semanais, ranking, badges, eventos — sistema anti-fraude nativo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8803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público no GitHub, auditável, aceita contribuições externas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PWA sem download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3977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no navegador, instala na tela, funciona offline. Atrito 68% menor que app nativo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4068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 quase zero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40680" y="3977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inteiro por &lt; R$ 5/mês usando free tiers. 2% do custo de um app convencional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MVP ao impacto nacional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920240"/>
            <a:ext cx="6858000" cy="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783080"/>
            <a:ext cx="320040" cy="320040"/>
          </a:xfrm>
          <a:prstGeom prst="ellipse">
            <a:avLst/>
          </a:prstGeom>
          <a:solidFill>
            <a:srgbClr val="24A645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A6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semanas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Mapa, Chat IA,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Coins, PWA, Docs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A6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usuários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63240" y="1783080"/>
            <a:ext cx="320040" cy="320040"/>
          </a:xfrm>
          <a:prstGeom prst="ellipse">
            <a:avLst/>
          </a:prstGeom>
          <a:solidFill>
            <a:srgbClr val="3E8C8C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4320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meses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28803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Missões semanais, Eventos,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Parcerias, Badges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usuários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1783080"/>
            <a:ext cx="320040" cy="32004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V1.1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meses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8803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 cashback, Cupons,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Lenda, Feed social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usuários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86600" y="1783080"/>
            <a:ext cx="320040" cy="320040"/>
          </a:xfrm>
          <a:prstGeom prst="ellipse">
            <a:avLst/>
          </a:prstGeom>
          <a:solidFill>
            <a:srgbClr val="1A736A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6656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73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V2.0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0" y="25603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meses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66560" y="28803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Marketplace, QR Code,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Desafios, NFTs simb.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6656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20.000 usuários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73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7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Cada descarte conta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965960" cy="1828800"/>
          </a:xfrm>
          <a:prstGeom prst="rect">
            <a:avLst/>
          </a:prstGeom>
          <a:solidFill>
            <a:srgbClr val="3E8C8C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2,25 bi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 de água protegidos (projeção 1 ano)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88920" y="1554480"/>
            <a:ext cx="1965960" cy="1828800"/>
          </a:xfrm>
          <a:prstGeom prst="rect">
            <a:avLst/>
          </a:prstGeom>
          <a:solidFill>
            <a:srgbClr val="3E8C8C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8892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60.000+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26080" y="25146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educadas sobre descarte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1554480"/>
            <a:ext cx="1965960" cy="1828800"/>
          </a:xfrm>
          <a:prstGeom prst="rect">
            <a:avLst/>
          </a:prstGeom>
          <a:solidFill>
            <a:srgbClr val="3E8C8C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5.000+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74920" y="25146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descartes corretos registrados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86600" y="1554480"/>
            <a:ext cx="1965960" cy="1828800"/>
          </a:xfrm>
          <a:prstGeom prst="rect">
            <a:avLst/>
          </a:prstGeom>
          <a:solidFill>
            <a:srgbClr val="3E8C8C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18288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D9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223760" y="25146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piscinas olímpicas equivalentes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Alinhado com os Objetivos de Desenvolvimento Sustentável da ONU: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280160" cy="457200"/>
          </a:xfrm>
          <a:prstGeom prst="rect">
            <a:avLst/>
          </a:prstGeom>
          <a:solidFill>
            <a:srgbClr val="3E8C8C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3: Saúde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39112" y="4114800"/>
            <a:ext cx="1280160" cy="457200"/>
          </a:xfrm>
          <a:prstGeom prst="rect">
            <a:avLst/>
          </a:prstGeom>
          <a:solidFill>
            <a:srgbClr val="3E8C8C">
              <a:alpha val="6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039112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4: Educação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38144" y="4114800"/>
            <a:ext cx="1280160" cy="457200"/>
          </a:xfrm>
          <a:prstGeom prst="rect">
            <a:avLst/>
          </a:prstGeom>
          <a:solidFill>
            <a:srgbClr val="3E8C8C">
              <a:alpha val="6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38144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6: Água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37176" y="4114800"/>
            <a:ext cx="1280160" cy="457200"/>
          </a:xfrm>
          <a:prstGeom prst="rect">
            <a:avLst/>
          </a:prstGeom>
          <a:solidFill>
            <a:srgbClr val="3E8C8C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837176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9: Inovação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36208" y="4114800"/>
            <a:ext cx="1280160" cy="457200"/>
          </a:xfrm>
          <a:prstGeom prst="rect">
            <a:avLst/>
          </a:prstGeom>
          <a:solidFill>
            <a:srgbClr val="3E8C8C">
              <a:alpha val="6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12: Consumo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635240" y="4114800"/>
            <a:ext cx="1280160" cy="457200"/>
          </a:xfrm>
          <a:prstGeom prst="rect">
            <a:avLst/>
          </a:prstGeom>
          <a:solidFill>
            <a:srgbClr val="3E8C8C">
              <a:alpha val="6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635240" y="4114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17: Parcerias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 alunos, 3 turmas, 1 missão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06040" cy="1463040"/>
          </a:xfrm>
          <a:prstGeom prst="rect">
            <a:avLst/>
          </a:prstGeom>
          <a:solidFill>
            <a:srgbClr val="F5F4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606040" cy="54864"/>
          </a:xfrm>
          <a:prstGeom prst="rect">
            <a:avLst/>
          </a:prstGeom>
          <a:solidFill>
            <a:srgbClr val="24A6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3TA — Farmácia e Negócios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grupos | Pesquisa, Conteúdo, Negócio, Marketing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463040"/>
            <a:ext cx="2606040" cy="1463040"/>
          </a:xfrm>
          <a:prstGeom prst="rect">
            <a:avLst/>
          </a:prstGeom>
          <a:solidFill>
            <a:srgbClr val="F5F4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463040"/>
            <a:ext cx="2606040" cy="54864"/>
          </a:xfrm>
          <a:prstGeom prst="rect">
            <a:avLst/>
          </a:prstGeom>
          <a:solidFill>
            <a:srgbClr val="3E8C8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3TB — IA e Ética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grupos | Ollama, RAG, Guardrails, Prompts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2606040" cy="1463040"/>
          </a:xfrm>
          <a:prstGeom prst="rect">
            <a:avLst/>
          </a:prstGeom>
          <a:solidFill>
            <a:srgbClr val="F5F4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463040"/>
            <a:ext cx="2606040" cy="54864"/>
          </a:xfrm>
          <a:prstGeom prst="rect">
            <a:avLst/>
          </a:prstGeom>
          <a:solidFill>
            <a:srgbClr val="1A73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459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3TC — Frontend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grupos | Setup, Chat, Mapa, Telas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solidFill>
            <a:srgbClr val="1A736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Coordenação: Prof. Ivon Matos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Técnica Estadual | Projeto Interdisciplinar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3291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7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grupos | 196+ tarefas | OpenProject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73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3E8C8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24A645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Junte-se ao EcoMed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7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Descarte certo, planeta saudável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017520"/>
            <a:ext cx="2606040" cy="822960"/>
          </a:xfrm>
          <a:prstGeom prst="rect">
            <a:avLst/>
          </a:prstGeom>
          <a:solidFill>
            <a:srgbClr val="3E8C8C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108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ecomed.eco.br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0" y="3017520"/>
            <a:ext cx="2606040" cy="822960"/>
          </a:xfrm>
          <a:prstGeom prst="rect">
            <a:avLst/>
          </a:prstGeom>
          <a:solidFill>
            <a:srgbClr val="3E8C8C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474720" y="3108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7472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parcerias@ecomed.eco.br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3017520"/>
            <a:ext cx="2606040" cy="822960"/>
          </a:xfrm>
          <a:prstGeom prst="rect">
            <a:avLst/>
          </a:prstGeom>
          <a:solidFill>
            <a:srgbClr val="3E8C8C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31089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09360" y="338328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contato@ecomed.eco.br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Open source  |  💰 Gratuito para usuários  |  🔒 LGPD compliant  |  🤖 IA local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EcoMed - Pitch Deck</dc:title>
  <dc:subject>PptxGenJS Presentation</dc:subject>
  <dc:creator>Prof. Ivon Matos</dc:creator>
  <cp:lastModifiedBy>Prof. Ivon Matos</cp:lastModifiedBy>
  <cp:revision>1</cp:revision>
  <dcterms:created xsi:type="dcterms:W3CDTF">2026-04-04T23:29:43Z</dcterms:created>
  <dcterms:modified xsi:type="dcterms:W3CDTF">2026-04-04T23:29:43Z</dcterms:modified>
</cp:coreProperties>
</file>